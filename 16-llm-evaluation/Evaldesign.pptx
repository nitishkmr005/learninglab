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9"/>
  </p:notesMasterIdLst>
  <p:sldIdLst>
    <p:sldId id="256" r:id="rId5"/>
    <p:sldId id="288" r:id="rId6"/>
    <p:sldId id="289" r:id="rId7"/>
    <p:sldId id="301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302" r:id="rId17"/>
    <p:sldId id="30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23"/>
    <p:restoredTop sz="94647"/>
  </p:normalViewPr>
  <p:slideViewPr>
    <p:cSldViewPr snapToGrid="0" snapToObjects="1">
      <p:cViewPr varScale="1">
        <p:scale>
          <a:sx n="99" d="100"/>
          <a:sy n="99" d="100"/>
        </p:scale>
        <p:origin x="184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C5E0E6-7291-9E46-8E2E-EC673EAF3CB8}" type="datetimeFigureOut">
              <a:rPr lang="en-US" smtClean="0"/>
              <a:t>5/24/26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18F581-E455-6345-818A-B6979F92D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74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09585" y="742950"/>
            <a:ext cx="590535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ARCHITECTURE &amp; DESIGN REFERENCE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609585" y="1219200"/>
            <a:ext cx="68578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Task-Agnostic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09585" y="1714500"/>
            <a:ext cx="68578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Rubric-Driven LLM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609585" y="2209800"/>
            <a:ext cx="685782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 System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609585" y="2914650"/>
            <a:ext cx="2743131" cy="47625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09585" y="3200400"/>
            <a:ext cx="6572086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 architecture for evaluating LLM outputs with LLM-as-judge: provider-agnostic, claim-level, rubric-versioned, and built for model migrations.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585" y="6134100"/>
            <a:ext cx="68578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Companion to the LLM Evaluation literature survey · Design review deck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343691" y="990600"/>
            <a:ext cx="3105072" cy="451485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924802" y="323850"/>
            <a:ext cx="2285943" cy="2286000"/>
          </a:xfrm>
          <a:prstGeom prst="roundRect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648484" y="1466850"/>
            <a:ext cx="2495488" cy="3562350"/>
          </a:xfrm>
          <a:prstGeom prst="round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877078" y="1790700"/>
            <a:ext cx="1981150" cy="9525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877078" y="2152650"/>
            <a:ext cx="1676358" cy="9525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877078" y="2514600"/>
            <a:ext cx="1904952" cy="9525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896128" y="3009900"/>
            <a:ext cx="380990" cy="3810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315217" y="3190875"/>
            <a:ext cx="400040" cy="28575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715257" y="3009900"/>
            <a:ext cx="380990" cy="38100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0134347" y="3190875"/>
            <a:ext cx="400040" cy="28575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0534387" y="3009900"/>
            <a:ext cx="380990" cy="3810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877078" y="3657600"/>
            <a:ext cx="1885903" cy="9525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77078" y="4019550"/>
            <a:ext cx="1543011" cy="9525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877078" y="4381500"/>
            <a:ext cx="1962101" cy="9525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BUILD CUSTOM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857228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31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Existing OSS evaluators leave production gaps at claim level</a:t>
            </a:r>
            <a:endParaRPr lang="en-US" sz="2231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804842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Frameworks are useful for tests, traces, or RAG metrics. The missing layer is production-grade attribution: exactly which field failed, why, and how the prompt should change.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2436" y="1581150"/>
            <a:ext cx="8210345" cy="4000500"/>
          </a:xfrm>
          <a:prstGeom prst="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8" name="Table 0"/>
          <p:cNvGraphicFramePr>
            <a:graphicFrameLocks noGrp="1"/>
          </p:cNvGraphicFramePr>
          <p:nvPr/>
        </p:nvGraphicFramePr>
        <p:xfrm>
          <a:off x="561961" y="1590675"/>
          <a:ext cx="8191295" cy="3981450"/>
        </p:xfrm>
        <a:graphic>
          <a:graphicData uri="http://schemas.openxmlformats.org/drawingml/2006/table">
            <a:tbl>
              <a:tblPr/>
              <a:tblGrid>
                <a:gridCol w="1474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39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573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5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Framework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Core strength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Critical limitation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Design response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80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DeepEval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RAG metrics and pytest integration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OSS monitoring and JSON robustness gaps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Per-claim ValidationObject + post-validation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56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Promptfoo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Multi-model tests and red-teaming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SQLite backend; no claim granularity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Async queue + field_path attribution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LangSmith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Trace capture and annotation queues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LangChain/cloud depth; limited OSS rubrics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Self-hosted adapters + YAML rubrics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G-Eval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CoT rubric evaluation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Position, verbosity, and self-preference bias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Dual-ordering + cross-family judges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71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RAGAS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Reference-free RAG metrics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Entailment ≠ correctness; opaque score only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Binary verdict + verbatim evidence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69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Prometheus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Open-source rubric judge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Reference dependency and weaker faithfulness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dirty="0">
                          <a:solidFill>
                            <a:srgbClr val="24344D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Provider-agnostic judge + evidence validation</a:t>
                      </a:r>
                      <a:endParaRPr lang="en-US" sz="975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B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9334267" y="1581150"/>
            <a:ext cx="2304992" cy="40005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562861" y="1828800"/>
            <a:ext cx="184780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 design lens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562861" y="2305050"/>
            <a:ext cx="1847804" cy="1200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the deck less like documentation pasted onto slides and more like an architecture review: one claim, one proof object, one implication per slide.</a:t>
            </a:r>
            <a:endParaRPr lang="en-US" sz="1163" dirty="0"/>
          </a:p>
        </p:txBody>
      </p:sp>
      <p:sp>
        <p:nvSpPr>
          <p:cNvPr id="12" name="Shape 9"/>
          <p:cNvSpPr/>
          <p:nvPr/>
        </p:nvSpPr>
        <p:spPr>
          <a:xfrm>
            <a:off x="9562861" y="4395787"/>
            <a:ext cx="184780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562861" y="4876800"/>
            <a:ext cx="18478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differentiators drive the whole story: attribution and improvement loop.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552436" y="634365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Source: user-provided architecture design note; framework limitations summarized from the supplied survey framing.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177418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THIS DESIGN UNIQUELY ADDS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143771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31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differentiator: every failure is attributable and actionable</a:t>
            </a:r>
            <a:endParaRPr lang="en-US" sz="2231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857228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system captures the exact field, evidence, failed rubric clause, corrected value, and recurring pattern needed to change the prompt safely.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2436" y="1600200"/>
            <a:ext cx="5105272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61961" y="1609725"/>
            <a:ext cx="5086223" cy="9525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09605" y="1933575"/>
            <a:ext cx="457189" cy="4572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71972" y="2019300"/>
            <a:ext cx="1324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75" dirty="0"/>
          </a:p>
        </p:txBody>
      </p:sp>
      <p:sp>
        <p:nvSpPr>
          <p:cNvPr id="11" name="Text 9"/>
          <p:cNvSpPr/>
          <p:nvPr/>
        </p:nvSpPr>
        <p:spPr>
          <a:xfrm>
            <a:off x="1438239" y="1924050"/>
            <a:ext cx="376228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Claim-level failure attribution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8654" y="2600325"/>
            <a:ext cx="457188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extracted field becomes a ValidationObject, so debugging moves from reading whole responses to sorting failures by field_path and error theme.</a:t>
            </a:r>
            <a:endParaRPr lang="en-US" sz="1275" dirty="0"/>
          </a:p>
        </p:txBody>
      </p:sp>
      <p:sp>
        <p:nvSpPr>
          <p:cNvPr id="13" name="Shape 11"/>
          <p:cNvSpPr/>
          <p:nvPr/>
        </p:nvSpPr>
        <p:spPr>
          <a:xfrm>
            <a:off x="828654" y="3667125"/>
            <a:ext cx="4571886" cy="15621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00100" y="3838575"/>
            <a:ext cx="42289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field_path: "customer.account_number"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00100" y="4010025"/>
            <a:ext cx="42289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is_correct: false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00100" y="4181475"/>
            <a:ext cx="42289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reason: "9 digits; criteria is 10-digit"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00100" y="4352925"/>
            <a:ext cx="42289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evidence: ["Agent: '4829301020'"]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00100" y="4524375"/>
            <a:ext cx="422899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error_theme: "digit_drop"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14897" y="1600200"/>
            <a:ext cx="5105272" cy="38862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124422" y="1609725"/>
            <a:ext cx="5086223" cy="95250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372066" y="1933575"/>
            <a:ext cx="457189" cy="4572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34433" y="2019300"/>
            <a:ext cx="13245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7000700" y="1924050"/>
            <a:ext cx="3762281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Closed-loop prompt improvement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391115" y="2600325"/>
            <a:ext cx="4571886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Failed ValidationObjects flow into pattern mining, prompt advice, and human review — making improvement governed, not ad hoc.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6391115" y="3495675"/>
            <a:ext cx="45718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91B1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ValidationObjects with is_correct = False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91115" y="3743325"/>
            <a:ext cx="45718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92400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Theme Aggregator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91115" y="3990975"/>
            <a:ext cx="45718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D4E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 Finder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91115" y="4238625"/>
            <a:ext cx="45718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6D28D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Advisor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391115" y="4486275"/>
            <a:ext cx="45718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478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HITL: Accept / Edit / Reject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91115" y="4733925"/>
            <a:ext cx="45718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Versioned prompt deployed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52436" y="63246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simplified slide to two proof objects and removed excess explanatory prose.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376923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TASK COVERAGE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8572286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66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MVP scope is deliberately deterministic before free-form expansion</a:t>
            </a:r>
            <a:endParaRPr lang="en-US" sz="2066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8667533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system starts where decomposition can be proven, not guessed: JSON extraction, template summarization, and classification.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52436" y="1504950"/>
            <a:ext cx="228594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478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SCOPE — MVP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2436" y="1790700"/>
            <a:ext cx="3314617" cy="2038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1506" y="2028825"/>
            <a:ext cx="28764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 extraction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771506" y="2286000"/>
            <a:ext cx="287647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Structured fields from a source document or transcript become one ValidationObject per JSON field path.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1506" y="3438525"/>
            <a:ext cx="28574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3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Deterministic parse of JSON keys</a:t>
            </a:r>
            <a:endParaRPr lang="en-US" sz="1083" dirty="0"/>
          </a:p>
        </p:txBody>
      </p:sp>
      <p:sp>
        <p:nvSpPr>
          <p:cNvPr id="12" name="Shape 10"/>
          <p:cNvSpPr/>
          <p:nvPr/>
        </p:nvSpPr>
        <p:spPr>
          <a:xfrm>
            <a:off x="4248044" y="1790700"/>
            <a:ext cx="3314617" cy="2038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67113" y="2028825"/>
            <a:ext cx="28764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summarization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4467113" y="2286000"/>
            <a:ext cx="287647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Defined template sections convert to JSON-like fields, then follow the same per-section evaluation path.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67113" y="3438525"/>
            <a:ext cx="28574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3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→ JSON → field claims</a:t>
            </a:r>
            <a:endParaRPr lang="en-US" sz="1083" dirty="0"/>
          </a:p>
        </p:txBody>
      </p:sp>
      <p:sp>
        <p:nvSpPr>
          <p:cNvPr id="16" name="Shape 14"/>
          <p:cNvSpPr/>
          <p:nvPr/>
        </p:nvSpPr>
        <p:spPr>
          <a:xfrm>
            <a:off x="7943651" y="1790700"/>
            <a:ext cx="3314617" cy="20383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62721" y="2028825"/>
            <a:ext cx="28764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Classification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8162721" y="2286000"/>
            <a:ext cx="2876478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Allowed labels are validated per YAML config; each classification field receives a binary verdict.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62721" y="3438525"/>
            <a:ext cx="28574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3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Label + allowed_labels check</a:t>
            </a:r>
            <a:endParaRPr lang="en-US" sz="1083" dirty="0"/>
          </a:p>
        </p:txBody>
      </p:sp>
      <p:sp>
        <p:nvSpPr>
          <p:cNvPr id="20" name="Shape 18"/>
          <p:cNvSpPr/>
          <p:nvPr/>
        </p:nvSpPr>
        <p:spPr>
          <a:xfrm>
            <a:off x="552436" y="4171950"/>
            <a:ext cx="10705832" cy="876300"/>
          </a:xfrm>
          <a:prstGeom prst="roundRect">
            <a:avLst/>
          </a:prstGeom>
          <a:solidFill>
            <a:srgbClr val="FFF7ED"/>
          </a:solidFill>
          <a:ln w="952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90555" y="4371975"/>
            <a:ext cx="102295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2410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Phase 2 — post-MVP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90555" y="4591050"/>
            <a:ext cx="10229594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Free-form summarization · Free-form text generation · Use an LLM decomposer after MVP calibration; cap outputs to ≤10 atomic claims.</a:t>
            </a:r>
            <a:endParaRPr lang="en-US" sz="1275" dirty="0"/>
          </a:p>
        </p:txBody>
      </p:sp>
      <p:sp>
        <p:nvSpPr>
          <p:cNvPr id="23" name="Shape 21"/>
          <p:cNvSpPr/>
          <p:nvPr/>
        </p:nvSpPr>
        <p:spPr>
          <a:xfrm>
            <a:off x="552436" y="5219700"/>
            <a:ext cx="10705832" cy="857250"/>
          </a:xfrm>
          <a:prstGeom prst="roundRect">
            <a:avLst/>
          </a:prstGeom>
          <a:solidFill>
            <a:srgbClr val="FEF2F2"/>
          </a:solidFill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90555" y="5419725"/>
            <a:ext cx="102295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B91C1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 of scope — current architecture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790555" y="5638800"/>
            <a:ext cx="1022959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Agentic workflows, LLM-to-LLM pipelines, chatbot/dialogue evaluation, and RAG retrieval quality require future decomposer strategies.</a:t>
            </a:r>
            <a:endParaRPr lang="en-US" sz="1275" dirty="0"/>
          </a:p>
        </p:txBody>
      </p:sp>
      <p:sp>
        <p:nvSpPr>
          <p:cNvPr id="26" name="Text 24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note: the previous cramped lower boxes were replaced by two clear lanes to prevent text collisions.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3730239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PRINCIPLES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895327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6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Eight principles keep the evaluator portable and auditable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876278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principles define what is allowed to change — models, providers, tasks, and rubrics — without breaking evaluation continuity.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2436" y="1600200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33407" y="1781175"/>
            <a:ext cx="361941" cy="36195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69283" y="1862137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1247744" y="1771650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Task-agnostic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247744" y="1990725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pipeline supports extraction, template summaries, classification, and constrained text tasks.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5991075" y="1600200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72046" y="1781175"/>
            <a:ext cx="361941" cy="36195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07922" y="1862137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75" dirty="0"/>
          </a:p>
        </p:txBody>
      </p:sp>
      <p:sp>
        <p:nvSpPr>
          <p:cNvPr id="15" name="Text 13"/>
          <p:cNvSpPr/>
          <p:nvPr/>
        </p:nvSpPr>
        <p:spPr>
          <a:xfrm>
            <a:off x="6686383" y="1771650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LLM-agnostic</a:t>
            </a:r>
            <a:endParaRPr lang="en-US" sz="1575" dirty="0"/>
          </a:p>
        </p:txBody>
      </p:sp>
      <p:sp>
        <p:nvSpPr>
          <p:cNvPr id="16" name="Text 14"/>
          <p:cNvSpPr/>
          <p:nvPr/>
        </p:nvSpPr>
        <p:spPr>
          <a:xfrm>
            <a:off x="6686383" y="1990725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System-under-test and judge can come from OpenAI, Anthropic, gateways, or local models.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552436" y="2657475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33407" y="2838450"/>
            <a:ext cx="361941" cy="36195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69283" y="2919412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75" dirty="0"/>
          </a:p>
        </p:txBody>
      </p:sp>
      <p:sp>
        <p:nvSpPr>
          <p:cNvPr id="20" name="Text 18"/>
          <p:cNvSpPr/>
          <p:nvPr/>
        </p:nvSpPr>
        <p:spPr>
          <a:xfrm>
            <a:off x="1247744" y="2828925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Claim-level granularity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1247744" y="3048000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Actionable verdicts attach to field_path, evidence, rubric clause, and corrected value.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5991075" y="2657475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046" y="2838450"/>
            <a:ext cx="361941" cy="36195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7922" y="2919412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6686383" y="2828925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Rubric-driven</a:t>
            </a:r>
            <a:endParaRPr lang="en-US" sz="1575" dirty="0"/>
          </a:p>
        </p:txBody>
      </p:sp>
      <p:sp>
        <p:nvSpPr>
          <p:cNvPr id="26" name="Text 24"/>
          <p:cNvSpPr/>
          <p:nvPr/>
        </p:nvSpPr>
        <p:spPr>
          <a:xfrm>
            <a:off x="6686383" y="3048000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Teams add criteria in YAML; new metrics are plugins, not pipeline rewrites.</a:t>
            </a:r>
            <a:endParaRPr lang="en-US" sz="1125" dirty="0"/>
          </a:p>
        </p:txBody>
      </p:sp>
      <p:sp>
        <p:nvSpPr>
          <p:cNvPr id="27" name="Shape 25"/>
          <p:cNvSpPr/>
          <p:nvPr/>
        </p:nvSpPr>
        <p:spPr>
          <a:xfrm>
            <a:off x="552436" y="3714750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733407" y="3895725"/>
            <a:ext cx="361941" cy="36195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69283" y="3976687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75" dirty="0"/>
          </a:p>
        </p:txBody>
      </p:sp>
      <p:sp>
        <p:nvSpPr>
          <p:cNvPr id="30" name="Text 28"/>
          <p:cNvSpPr/>
          <p:nvPr/>
        </p:nvSpPr>
        <p:spPr>
          <a:xfrm>
            <a:off x="1247744" y="3886200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Async by default</a:t>
            </a:r>
            <a:endParaRPr lang="en-US" sz="1575" dirty="0"/>
          </a:p>
        </p:txBody>
      </p:sp>
      <p:sp>
        <p:nvSpPr>
          <p:cNvPr id="31" name="Text 29"/>
          <p:cNvSpPr/>
          <p:nvPr/>
        </p:nvSpPr>
        <p:spPr>
          <a:xfrm>
            <a:off x="1247744" y="4105275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 runs off the request path through queues, samplers, and background workers.</a:t>
            </a:r>
            <a:endParaRPr lang="en-US" sz="1125" dirty="0"/>
          </a:p>
        </p:txBody>
      </p:sp>
      <p:sp>
        <p:nvSpPr>
          <p:cNvPr id="32" name="Shape 30"/>
          <p:cNvSpPr/>
          <p:nvPr/>
        </p:nvSpPr>
        <p:spPr>
          <a:xfrm>
            <a:off x="5991075" y="3714750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72046" y="3895725"/>
            <a:ext cx="361941" cy="36195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307922" y="3976687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6686383" y="3886200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caching everywhere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6686383" y="4105275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 steps, static prefixes, and repeated judge results are cached aggressively.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552436" y="4772025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33407" y="4953000"/>
            <a:ext cx="361941" cy="36195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69283" y="5033963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1247744" y="4943475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evolution support</a:t>
            </a:r>
            <a:endParaRPr lang="en-US" sz="1575" dirty="0"/>
          </a:p>
        </p:txBody>
      </p:sp>
      <p:sp>
        <p:nvSpPr>
          <p:cNvPr id="41" name="Text 39"/>
          <p:cNvSpPr/>
          <p:nvPr/>
        </p:nvSpPr>
        <p:spPr>
          <a:xfrm>
            <a:off x="1247744" y="5162550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changes are evaluated before rollout, blocking regressions like a CI gate.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5991075" y="4772025"/>
            <a:ext cx="5267193" cy="9239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172046" y="4953000"/>
            <a:ext cx="361941" cy="361950"/>
          </a:xfrm>
          <a:prstGeom prst="roundRect">
            <a:avLst/>
          </a:prstGeom>
          <a:solidFill>
            <a:srgbClr val="14B8A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307922" y="5033963"/>
            <a:ext cx="9003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75" dirty="0"/>
          </a:p>
        </p:txBody>
      </p:sp>
      <p:sp>
        <p:nvSpPr>
          <p:cNvPr id="45" name="Text 43"/>
          <p:cNvSpPr/>
          <p:nvPr/>
        </p:nvSpPr>
        <p:spPr>
          <a:xfrm>
            <a:off x="6686383" y="4943475"/>
            <a:ext cx="43909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HITL governance</a:t>
            </a:r>
            <a:endParaRPr lang="en-US" sz="1575" dirty="0"/>
          </a:p>
        </p:txBody>
      </p:sp>
      <p:sp>
        <p:nvSpPr>
          <p:cNvPr id="46" name="Text 44"/>
          <p:cNvSpPr/>
          <p:nvPr/>
        </p:nvSpPr>
        <p:spPr>
          <a:xfrm>
            <a:off x="6686383" y="5162550"/>
            <a:ext cx="439091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Advisor suggestions require Accept / Edit / Reject with rationale and audit trail.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552436" y="634365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same content, tighter copy, consistent grid, and normalized color roles.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215608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CORE DATA MODEL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1913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009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ValidationObject is the atomic record that powers every downstream view</a:t>
            </a:r>
            <a:endParaRPr lang="en-US" sz="2009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895327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object separates values, evidence, verdict flags, error themes, custom rubric scores, and version metadata so every dashboard is a rollup.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2436" y="1581150"/>
            <a:ext cx="5733907" cy="40005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81030" y="1809750"/>
            <a:ext cx="527671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ValidationObject — simplified schema anatomy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81030" y="2028825"/>
            <a:ext cx="1219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33547" y="2028825"/>
            <a:ext cx="3924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field_path · field_type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81030" y="2295525"/>
            <a:ext cx="1219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33547" y="2295525"/>
            <a:ext cx="3924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actual_value · corrected_value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81030" y="2562225"/>
            <a:ext cx="1219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133547" y="2562225"/>
            <a:ext cx="3924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evaluation_steps[] · evidence[]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81030" y="2828925"/>
            <a:ext cx="1219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verdict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33547" y="2828925"/>
            <a:ext cx="3924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is_correct · is_missing · missing_severity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81030" y="3095625"/>
            <a:ext cx="1219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33547" y="3095625"/>
            <a:ext cx="3924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reason_for_incorrect · error_theme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81030" y="3362325"/>
            <a:ext cx="1219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133547" y="3362325"/>
            <a:ext cx="39242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rubric_scores{"metric": 0.0–1.0}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81030" y="3629025"/>
            <a:ext cx="12191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33547" y="3629025"/>
            <a:ext cx="39242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rubric_version · judge_model · latency_ms · cached · eval_version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667333" y="1581150"/>
            <a:ext cx="4590935" cy="1162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67333" y="1585913"/>
            <a:ext cx="459093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1253506" y="1581150"/>
            <a:ext cx="0" cy="1162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667333" y="2738438"/>
            <a:ext cx="459093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705432" y="1581150"/>
            <a:ext cx="0" cy="116205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953076" y="1762125"/>
            <a:ext cx="40861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Two independent verdict flags</a:t>
            </a:r>
            <a:endParaRPr lang="en-US" sz="1575" dirty="0"/>
          </a:p>
        </p:txBody>
      </p:sp>
      <p:sp>
        <p:nvSpPr>
          <p:cNvPr id="29" name="Text 27"/>
          <p:cNvSpPr/>
          <p:nvPr/>
        </p:nvSpPr>
        <p:spPr>
          <a:xfrm>
            <a:off x="6953076" y="2009775"/>
            <a:ext cx="40861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Present-but-wrong and missing-from-source are different failure modes; dashboards can filter both axes.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667333" y="2895600"/>
            <a:ext cx="4590935" cy="1162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667333" y="2900363"/>
            <a:ext cx="459093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253506" y="2895600"/>
            <a:ext cx="0" cy="1162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667333" y="4052887"/>
            <a:ext cx="459093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705432" y="2895600"/>
            <a:ext cx="0" cy="116205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953076" y="3076575"/>
            <a:ext cx="40861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&lt;corrected&gt; tags capture the right value</a:t>
            </a:r>
            <a:endParaRPr lang="en-US" sz="1575" dirty="0"/>
          </a:p>
        </p:txBody>
      </p:sp>
      <p:sp>
        <p:nvSpPr>
          <p:cNvPr id="36" name="Text 34"/>
          <p:cNvSpPr/>
          <p:nvPr/>
        </p:nvSpPr>
        <p:spPr>
          <a:xfrm>
            <a:off x="6953076" y="3324225"/>
            <a:ext cx="40861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judge wraps the correction when wrong, giving exports actual vs. corrected output.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667333" y="4210050"/>
            <a:ext cx="4590935" cy="11620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6667333" y="4214813"/>
            <a:ext cx="459093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253506" y="4210050"/>
            <a:ext cx="0" cy="11620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667333" y="5367337"/>
            <a:ext cx="4590935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705432" y="4210050"/>
            <a:ext cx="0" cy="116205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953076" y="4391025"/>
            <a:ext cx="40861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Versioning is built in</a:t>
            </a:r>
            <a:endParaRPr lang="en-US" sz="1575" dirty="0"/>
          </a:p>
        </p:txBody>
      </p:sp>
      <p:sp>
        <p:nvSpPr>
          <p:cNvPr id="43" name="Text 41"/>
          <p:cNvSpPr/>
          <p:nvPr/>
        </p:nvSpPr>
        <p:spPr>
          <a:xfrm>
            <a:off x="6953076" y="4638675"/>
            <a:ext cx="408612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record carries rubric and prompt versions for explicit migration comparisons.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667333" y="5486400"/>
            <a:ext cx="4590935" cy="6477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BF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676858" y="5653087"/>
            <a:ext cx="1523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Rubric</a:t>
            </a:r>
            <a:endParaRPr lang="en-US" sz="1125" dirty="0"/>
          </a:p>
        </p:txBody>
      </p:sp>
      <p:sp>
        <p:nvSpPr>
          <p:cNvPr id="46" name="Text 44"/>
          <p:cNvSpPr/>
          <p:nvPr/>
        </p:nvSpPr>
        <p:spPr>
          <a:xfrm>
            <a:off x="6676858" y="5824537"/>
            <a:ext cx="1523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Rulebook</a:t>
            </a:r>
            <a:endParaRPr lang="en-US" sz="938" dirty="0"/>
          </a:p>
        </p:txBody>
      </p:sp>
      <p:sp>
        <p:nvSpPr>
          <p:cNvPr id="47" name="Text 45"/>
          <p:cNvSpPr/>
          <p:nvPr/>
        </p:nvSpPr>
        <p:spPr>
          <a:xfrm>
            <a:off x="8200820" y="5653087"/>
            <a:ext cx="1523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Criteria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8200820" y="5824537"/>
            <a:ext cx="1523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 / fail</a:t>
            </a:r>
            <a:endParaRPr lang="en-US" sz="938" dirty="0"/>
          </a:p>
        </p:txBody>
      </p:sp>
      <p:sp>
        <p:nvSpPr>
          <p:cNvPr id="49" name="Text 47"/>
          <p:cNvSpPr/>
          <p:nvPr/>
        </p:nvSpPr>
        <p:spPr>
          <a:xfrm>
            <a:off x="9724782" y="5653087"/>
            <a:ext cx="152396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2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Steps</a:t>
            </a:r>
            <a:endParaRPr lang="en-US" sz="1125" dirty="0"/>
          </a:p>
        </p:txBody>
      </p:sp>
      <p:sp>
        <p:nvSpPr>
          <p:cNvPr id="50" name="Text 48"/>
          <p:cNvSpPr/>
          <p:nvPr/>
        </p:nvSpPr>
        <p:spPr>
          <a:xfrm>
            <a:off x="9724782" y="5824537"/>
            <a:ext cx="152396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actions</a:t>
            </a:r>
            <a:endParaRPr lang="en-US" sz="938" dirty="0"/>
          </a:p>
        </p:txBody>
      </p:sp>
      <p:sp>
        <p:nvSpPr>
          <p:cNvPr id="51" name="Text 49"/>
          <p:cNvSpPr/>
          <p:nvPr/>
        </p:nvSpPr>
        <p:spPr>
          <a:xfrm>
            <a:off x="552436" y="6343650"/>
            <a:ext cx="876278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long code block converted to a readable schema anatomy plus three design decisions.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3576864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FULL SYSTEM ARCHITECTURE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3342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Async architecture separates judging from operations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857228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core pipeline stays task- and provider-agnostic while queues, cache, store, and dashboards handle production operations.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52436" y="1562100"/>
            <a:ext cx="6191095" cy="55245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3882" y="1733550"/>
            <a:ext cx="1295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SUBMISSION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171646" y="1704975"/>
            <a:ext cx="40956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 CI/CD gate · production sampler · validation tool</a:t>
            </a:r>
            <a:endParaRPr lang="en-US" sz="1088" dirty="0"/>
          </a:p>
        </p:txBody>
      </p:sp>
      <p:sp>
        <p:nvSpPr>
          <p:cNvPr id="10" name="Shape 8"/>
          <p:cNvSpPr/>
          <p:nvPr/>
        </p:nvSpPr>
        <p:spPr>
          <a:xfrm>
            <a:off x="552436" y="2209800"/>
            <a:ext cx="6191095" cy="552450"/>
          </a:xfrm>
          <a:prstGeom prst="roundRect">
            <a:avLst/>
          </a:prstGeom>
          <a:solidFill>
            <a:srgbClr val="1D355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23882" y="2381250"/>
            <a:ext cx="1295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PRE-VALIDATION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171646" y="2352675"/>
            <a:ext cx="40956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· length · required fields · encoding · context limits</a:t>
            </a:r>
            <a:endParaRPr lang="en-US" sz="1088" dirty="0"/>
          </a:p>
        </p:txBody>
      </p:sp>
      <p:sp>
        <p:nvSpPr>
          <p:cNvPr id="13" name="Shape 11"/>
          <p:cNvSpPr/>
          <p:nvPr/>
        </p:nvSpPr>
        <p:spPr>
          <a:xfrm>
            <a:off x="552436" y="2857500"/>
            <a:ext cx="6191095" cy="552450"/>
          </a:xfrm>
          <a:prstGeom prst="roundRect">
            <a:avLst/>
          </a:prstGeom>
          <a:solidFill>
            <a:srgbClr val="302A6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23882" y="3028950"/>
            <a:ext cx="1295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 DECOMPOSITION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171646" y="3000375"/>
            <a:ext cx="40956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98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 per-field · template to JSON · classification per-label · Phase 2 Haiku</a:t>
            </a:r>
            <a:endParaRPr lang="en-US" sz="981" dirty="0"/>
          </a:p>
        </p:txBody>
      </p:sp>
      <p:sp>
        <p:nvSpPr>
          <p:cNvPr id="16" name="Shape 14"/>
          <p:cNvSpPr/>
          <p:nvPr/>
        </p:nvSpPr>
        <p:spPr>
          <a:xfrm>
            <a:off x="552436" y="3505200"/>
            <a:ext cx="6191095" cy="552450"/>
          </a:xfrm>
          <a:prstGeom prst="roundRect">
            <a:avLst/>
          </a:prstGeom>
          <a:solidFill>
            <a:srgbClr val="1F3F6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23882" y="3676650"/>
            <a:ext cx="1295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POOL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171646" y="3648075"/>
            <a:ext cx="40956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Primary · cross-check pairwise anti-bias · specialized judges</a:t>
            </a:r>
            <a:endParaRPr lang="en-US" sz="1088" dirty="0"/>
          </a:p>
        </p:txBody>
      </p:sp>
      <p:sp>
        <p:nvSpPr>
          <p:cNvPr id="19" name="Shape 17"/>
          <p:cNvSpPr/>
          <p:nvPr/>
        </p:nvSpPr>
        <p:spPr>
          <a:xfrm>
            <a:off x="552436" y="4152900"/>
            <a:ext cx="6191095" cy="552450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3882" y="4324350"/>
            <a:ext cx="1295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POST-VALIDATION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171646" y="4295775"/>
            <a:ext cx="40956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1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· score range · evidence substring check · reasoning non-empty</a:t>
            </a:r>
            <a:endParaRPr lang="en-US" sz="981" dirty="0"/>
          </a:p>
        </p:txBody>
      </p:sp>
      <p:sp>
        <p:nvSpPr>
          <p:cNvPr id="22" name="Shape 20"/>
          <p:cNvSpPr/>
          <p:nvPr/>
        </p:nvSpPr>
        <p:spPr>
          <a:xfrm>
            <a:off x="552436" y="4800600"/>
            <a:ext cx="6191095" cy="552450"/>
          </a:xfrm>
          <a:prstGeom prst="roundRect">
            <a:avLst/>
          </a:prstGeom>
          <a:solidFill>
            <a:srgbClr val="0F51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3882" y="4972050"/>
            <a:ext cx="12953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BFD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VO ASSEMBLER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171646" y="4943475"/>
            <a:ext cx="4095648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 judge output into ValidationObject and attach error theme</a:t>
            </a:r>
            <a:endParaRPr lang="en-US" sz="1088" dirty="0"/>
          </a:p>
        </p:txBody>
      </p:sp>
      <p:sp>
        <p:nvSpPr>
          <p:cNvPr id="25" name="Text 23"/>
          <p:cNvSpPr/>
          <p:nvPr/>
        </p:nvSpPr>
        <p:spPr>
          <a:xfrm>
            <a:off x="7105472" y="1562100"/>
            <a:ext cx="4152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Storage and analytics services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105472" y="1924050"/>
            <a:ext cx="4152796" cy="5810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114997" y="2038350"/>
            <a:ext cx="4152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Result Store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114997" y="2266950"/>
            <a:ext cx="4152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PostgreSQL · versioned ValidationObjects</a:t>
            </a:r>
            <a:endParaRPr lang="en-US" sz="938" dirty="0"/>
          </a:p>
        </p:txBody>
      </p:sp>
      <p:sp>
        <p:nvSpPr>
          <p:cNvPr id="29" name="Shape 27"/>
          <p:cNvSpPr/>
          <p:nvPr/>
        </p:nvSpPr>
        <p:spPr>
          <a:xfrm>
            <a:off x="7105472" y="2609850"/>
            <a:ext cx="4152796" cy="5810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114997" y="2724150"/>
            <a:ext cx="4152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Async Queue</a:t>
            </a:r>
            <a:endParaRPr lang="en-US" sz="1275" dirty="0"/>
          </a:p>
        </p:txBody>
      </p:sp>
      <p:sp>
        <p:nvSpPr>
          <p:cNvPr id="31" name="Text 29"/>
          <p:cNvSpPr/>
          <p:nvPr/>
        </p:nvSpPr>
        <p:spPr>
          <a:xfrm>
            <a:off x="7114997" y="2952750"/>
            <a:ext cx="4152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Redis / SQS · batching and workers</a:t>
            </a:r>
            <a:endParaRPr lang="en-US" sz="938" dirty="0"/>
          </a:p>
        </p:txBody>
      </p:sp>
      <p:sp>
        <p:nvSpPr>
          <p:cNvPr id="32" name="Shape 30"/>
          <p:cNvSpPr/>
          <p:nvPr/>
        </p:nvSpPr>
        <p:spPr>
          <a:xfrm>
            <a:off x="7105472" y="3295650"/>
            <a:ext cx="4152796" cy="5810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14997" y="3409950"/>
            <a:ext cx="4152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Cache</a:t>
            </a:r>
            <a:endParaRPr lang="en-US" sz="1275" dirty="0"/>
          </a:p>
        </p:txBody>
      </p:sp>
      <p:sp>
        <p:nvSpPr>
          <p:cNvPr id="34" name="Text 32"/>
          <p:cNvSpPr/>
          <p:nvPr/>
        </p:nvSpPr>
        <p:spPr>
          <a:xfrm>
            <a:off x="7114997" y="3638550"/>
            <a:ext cx="4152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Redis · eval steps and result cache</a:t>
            </a:r>
            <a:endParaRPr lang="en-US" sz="938" dirty="0"/>
          </a:p>
        </p:txBody>
      </p:sp>
      <p:sp>
        <p:nvSpPr>
          <p:cNvPr id="35" name="Shape 33"/>
          <p:cNvSpPr/>
          <p:nvPr/>
        </p:nvSpPr>
        <p:spPr>
          <a:xfrm>
            <a:off x="7105472" y="3981450"/>
            <a:ext cx="4152796" cy="5810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114997" y="4095750"/>
            <a:ext cx="4152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Benchmarking Dashboard</a:t>
            </a:r>
            <a:endParaRPr lang="en-US" sz="1275" dirty="0"/>
          </a:p>
        </p:txBody>
      </p:sp>
      <p:sp>
        <p:nvSpPr>
          <p:cNvPr id="37" name="Text 35"/>
          <p:cNvSpPr/>
          <p:nvPr/>
        </p:nvSpPr>
        <p:spPr>
          <a:xfrm>
            <a:off x="7114997" y="4324350"/>
            <a:ext cx="4152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9-metric leaderboard and migration deltas</a:t>
            </a:r>
            <a:endParaRPr lang="en-US" sz="938" dirty="0"/>
          </a:p>
        </p:txBody>
      </p:sp>
      <p:sp>
        <p:nvSpPr>
          <p:cNvPr id="38" name="Shape 36"/>
          <p:cNvSpPr/>
          <p:nvPr/>
        </p:nvSpPr>
        <p:spPr>
          <a:xfrm>
            <a:off x="7105472" y="4667250"/>
            <a:ext cx="4152796" cy="5810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114997" y="4781550"/>
            <a:ext cx="4152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DC262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Theme Dashboard</a:t>
            </a:r>
            <a:endParaRPr lang="en-US" sz="1275" dirty="0"/>
          </a:p>
        </p:txBody>
      </p:sp>
      <p:sp>
        <p:nvSpPr>
          <p:cNvPr id="40" name="Text 38"/>
          <p:cNvSpPr/>
          <p:nvPr/>
        </p:nvSpPr>
        <p:spPr>
          <a:xfrm>
            <a:off x="7114997" y="5010150"/>
            <a:ext cx="4152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Batch pattern mining and field impact</a:t>
            </a:r>
            <a:endParaRPr lang="en-US" sz="938" dirty="0"/>
          </a:p>
        </p:txBody>
      </p:sp>
      <p:sp>
        <p:nvSpPr>
          <p:cNvPr id="41" name="Shape 39"/>
          <p:cNvSpPr/>
          <p:nvPr/>
        </p:nvSpPr>
        <p:spPr>
          <a:xfrm>
            <a:off x="7105472" y="5353050"/>
            <a:ext cx="4152796" cy="5810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14997" y="5467350"/>
            <a:ext cx="4152796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75" b="1" dirty="0">
                <a:solidFill>
                  <a:srgbClr val="0F9F8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Advisor + HITL</a:t>
            </a:r>
            <a:endParaRPr lang="en-US" sz="1275" dirty="0"/>
          </a:p>
        </p:txBody>
      </p:sp>
      <p:sp>
        <p:nvSpPr>
          <p:cNvPr id="43" name="Text 41"/>
          <p:cNvSpPr/>
          <p:nvPr/>
        </p:nvSpPr>
        <p:spPr>
          <a:xfrm>
            <a:off x="7114997" y="5695950"/>
            <a:ext cx="415279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Closed-loop prompt improvement</a:t>
            </a:r>
            <a:endParaRPr lang="en-US" sz="938" dirty="0"/>
          </a:p>
        </p:txBody>
      </p:sp>
      <p:sp>
        <p:nvSpPr>
          <p:cNvPr id="44" name="Shape 42"/>
          <p:cNvSpPr/>
          <p:nvPr/>
        </p:nvSpPr>
        <p:spPr>
          <a:xfrm>
            <a:off x="7105472" y="6096000"/>
            <a:ext cx="4152796" cy="323850"/>
          </a:xfrm>
          <a:prstGeom prst="roundRect">
            <a:avLst/>
          </a:prstGeom>
          <a:solidFill>
            <a:srgbClr val="EDF4FF"/>
          </a:solidFill>
          <a:ln w="9525">
            <a:solidFill>
              <a:srgbClr val="BFD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210245" y="6181725"/>
            <a:ext cx="396230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OTel spans: pre_validate · decompose · judge_call · post_validate · result_store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architecture now reads as a pipeline with adjacent operations rather than disconnected boxes.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364280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LLM-AGNOSTIC ADAPTER LAYER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5247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Adapters make judge and generator providers interchangeable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919139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evaluation pipeline never imports a provider SDK directly; adapters normalize completions, usage, latency, cache controls, and model identifiers.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52436" y="1562100"/>
            <a:ext cx="5219570" cy="42291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9130" y="1809750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LLMAdapter — common interface</a:t>
            </a:r>
            <a:endParaRPr lang="en-US" sz="1275" dirty="0"/>
          </a:p>
        </p:txBody>
      </p:sp>
      <p:sp>
        <p:nvSpPr>
          <p:cNvPr id="9" name="Text 7"/>
          <p:cNvSpPr/>
          <p:nvPr/>
        </p:nvSpPr>
        <p:spPr>
          <a:xfrm>
            <a:off x="819130" y="2009775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LLMAdapter(ABC):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819130" y="2209800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def complete(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819130" y="2409825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messages: list[dict],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819130" y="2609850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temperature: float = 0.0,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19130" y="2809875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max_tokens: int = 2048,</a:t>
            </a:r>
            <a:endParaRPr lang="en-US" sz="1125" dirty="0"/>
          </a:p>
        </p:txBody>
      </p:sp>
      <p:sp>
        <p:nvSpPr>
          <p:cNvPr id="14" name="Text 12"/>
          <p:cNvSpPr/>
          <p:nvPr/>
        </p:nvSpPr>
        <p:spPr>
          <a:xfrm>
            <a:off x="819130" y="3009900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top_logprobs: int = 5,</a:t>
            </a:r>
            <a:endParaRPr lang="en-US" sz="1125" dirty="0"/>
          </a:p>
        </p:txBody>
      </p:sp>
      <p:sp>
        <p:nvSpPr>
          <p:cNvPr id="15" name="Text 13"/>
          <p:cNvSpPr/>
          <p:nvPr/>
        </p:nvSpPr>
        <p:spPr>
          <a:xfrm>
            <a:off x="819130" y="3209925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cache_control: bool = True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819130" y="3409950"/>
            <a:ext cx="468618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LLMResponse: ...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819130" y="3781425"/>
            <a:ext cx="468618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LLMResponse: text · logprobs · tokens · latency_ms · model_id · provider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6191095" y="1562100"/>
            <a:ext cx="50671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Supported providers</a:t>
            </a:r>
            <a:endParaRPr lang="en-US" sz="1425" dirty="0"/>
          </a:p>
        </p:txBody>
      </p:sp>
      <p:sp>
        <p:nvSpPr>
          <p:cNvPr id="19" name="Shape 17"/>
          <p:cNvSpPr/>
          <p:nvPr/>
        </p:nvSpPr>
        <p:spPr>
          <a:xfrm>
            <a:off x="6191095" y="1924050"/>
            <a:ext cx="5067173" cy="6572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91115" y="2057400"/>
            <a:ext cx="4667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OpenAI</a:t>
            </a:r>
            <a:endParaRPr lang="en-US" sz="1575" dirty="0"/>
          </a:p>
        </p:txBody>
      </p:sp>
      <p:sp>
        <p:nvSpPr>
          <p:cNvPr id="21" name="Text 19"/>
          <p:cNvSpPr/>
          <p:nvPr/>
        </p:nvSpPr>
        <p:spPr>
          <a:xfrm>
            <a:off x="6391115" y="2257425"/>
            <a:ext cx="46671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gpt-4o family · logprobs + JSON mode</a:t>
            </a:r>
            <a:endParaRPr lang="en-US" sz="1088" dirty="0"/>
          </a:p>
        </p:txBody>
      </p:sp>
      <p:sp>
        <p:nvSpPr>
          <p:cNvPr id="22" name="Shape 20"/>
          <p:cNvSpPr/>
          <p:nvPr/>
        </p:nvSpPr>
        <p:spPr>
          <a:xfrm>
            <a:off x="6191095" y="2686050"/>
            <a:ext cx="5067173" cy="6572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91115" y="2819400"/>
            <a:ext cx="4667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Anthropic</a:t>
            </a:r>
            <a:endParaRPr lang="en-US" sz="1575" dirty="0"/>
          </a:p>
        </p:txBody>
      </p:sp>
      <p:sp>
        <p:nvSpPr>
          <p:cNvPr id="24" name="Text 22"/>
          <p:cNvSpPr/>
          <p:nvPr/>
        </p:nvSpPr>
        <p:spPr>
          <a:xfrm>
            <a:off x="6391115" y="3019425"/>
            <a:ext cx="46671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Claude Sonnet / Haiku · prompt cache headers</a:t>
            </a:r>
            <a:endParaRPr lang="en-US" sz="1088" dirty="0"/>
          </a:p>
        </p:txBody>
      </p:sp>
      <p:sp>
        <p:nvSpPr>
          <p:cNvPr id="25" name="Shape 23"/>
          <p:cNvSpPr/>
          <p:nvPr/>
        </p:nvSpPr>
        <p:spPr>
          <a:xfrm>
            <a:off x="6191095" y="3448050"/>
            <a:ext cx="5067173" cy="6572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91115" y="3581400"/>
            <a:ext cx="4667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D9770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Enterprise Gateway</a:t>
            </a:r>
            <a:endParaRPr lang="en-US" sz="1575" dirty="0"/>
          </a:p>
        </p:txBody>
      </p:sp>
      <p:sp>
        <p:nvSpPr>
          <p:cNvPr id="27" name="Text 25"/>
          <p:cNvSpPr/>
          <p:nvPr/>
        </p:nvSpPr>
        <p:spPr>
          <a:xfrm>
            <a:off x="6391115" y="3781425"/>
            <a:ext cx="46671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Azure AI / AWS Bedrock · policy-controlled routing</a:t>
            </a:r>
            <a:endParaRPr lang="en-US" sz="1088" dirty="0"/>
          </a:p>
        </p:txBody>
      </p:sp>
      <p:sp>
        <p:nvSpPr>
          <p:cNvPr id="28" name="Shape 26"/>
          <p:cNvSpPr/>
          <p:nvPr/>
        </p:nvSpPr>
        <p:spPr>
          <a:xfrm>
            <a:off x="6191095" y="4210050"/>
            <a:ext cx="5067173" cy="6572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91115" y="4343400"/>
            <a:ext cx="4667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8B5C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OLLAMA</a:t>
            </a:r>
            <a:endParaRPr lang="en-US" sz="1575" dirty="0"/>
          </a:p>
        </p:txBody>
      </p:sp>
      <p:sp>
        <p:nvSpPr>
          <p:cNvPr id="30" name="Text 28"/>
          <p:cNvSpPr/>
          <p:nvPr/>
        </p:nvSpPr>
        <p:spPr>
          <a:xfrm>
            <a:off x="6391115" y="4543425"/>
            <a:ext cx="46671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Local models · self-hosted, higher latency, $0 provider cost</a:t>
            </a:r>
            <a:endParaRPr lang="en-US" sz="1088" dirty="0"/>
          </a:p>
        </p:txBody>
      </p:sp>
      <p:sp>
        <p:nvSpPr>
          <p:cNvPr id="31" name="Shape 29"/>
          <p:cNvSpPr/>
          <p:nvPr/>
        </p:nvSpPr>
        <p:spPr>
          <a:xfrm>
            <a:off x="6191095" y="4972050"/>
            <a:ext cx="5067173" cy="65722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391115" y="5105400"/>
            <a:ext cx="46671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llama-cpp</a:t>
            </a:r>
            <a:endParaRPr lang="en-US" sz="1575" dirty="0"/>
          </a:p>
        </p:txBody>
      </p:sp>
      <p:sp>
        <p:nvSpPr>
          <p:cNvPr id="33" name="Text 31"/>
          <p:cNvSpPr/>
          <p:nvPr/>
        </p:nvSpPr>
        <p:spPr>
          <a:xfrm>
            <a:off x="6391115" y="5305425"/>
            <a:ext cx="466713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GGUF quantized models · CPU / GPU inference</a:t>
            </a:r>
            <a:endParaRPr lang="en-US" sz="1088" dirty="0"/>
          </a:p>
        </p:txBody>
      </p:sp>
      <p:sp>
        <p:nvSpPr>
          <p:cNvPr id="34" name="Shape 32"/>
          <p:cNvSpPr/>
          <p:nvPr/>
        </p:nvSpPr>
        <p:spPr>
          <a:xfrm>
            <a:off x="6191095" y="5810250"/>
            <a:ext cx="5067173" cy="6096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91115" y="5934075"/>
            <a:ext cx="4667133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Migration control: use cross-family judges on flagged cases so GPT outputs are judged by Claude and Claude outputs by GPT.</a:t>
            </a:r>
            <a:endParaRPr lang="en-US" sz="1163" dirty="0"/>
          </a:p>
        </p:txBody>
      </p:sp>
      <p:sp>
        <p:nvSpPr>
          <p:cNvPr id="36" name="Text 34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dense code and provider details are split into a code exhibit and a readable provider stack.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3871042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YAML-BASED JUDGE CONFIGURATION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3342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9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YAML rubrics make evaluation behavior versioned and reviewable</a:t>
            </a:r>
            <a:endParaRPr lang="en-US" sz="2295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904852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judge pipeline stays stable while field definitions, failure rules, custom metrics, and provider routing evolve through reviewed configuration.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52436" y="1562100"/>
            <a:ext cx="5810105" cy="42672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19130" y="1790700"/>
            <a:ext cx="52767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BD5E1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judge-configs/call-contract-extraction-v2.yaml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9130" y="19716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metadata:</a:t>
            </a:r>
            <a:endParaRPr lang="en-US" sz="1013" dirty="0"/>
          </a:p>
        </p:txBody>
      </p:sp>
      <p:sp>
        <p:nvSpPr>
          <p:cNvPr id="10" name="Text 8"/>
          <p:cNvSpPr/>
          <p:nvPr/>
        </p:nvSpPr>
        <p:spPr>
          <a:xfrm>
            <a:off x="819130" y="214312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version: "2.1"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819130" y="23145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task_type: json_extraction</a:t>
            </a:r>
            <a:endParaRPr lang="en-US" sz="1013" dirty="0"/>
          </a:p>
        </p:txBody>
      </p:sp>
      <p:sp>
        <p:nvSpPr>
          <p:cNvPr id="12" name="Text 10"/>
          <p:cNvSpPr/>
          <p:nvPr/>
        </p:nvSpPr>
        <p:spPr>
          <a:xfrm>
            <a:off x="819130" y="248602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error_taxonomy: taxonomies/finance-errors.yaml</a:t>
            </a:r>
            <a:endParaRPr lang="en-US" sz="1013" dirty="0"/>
          </a:p>
        </p:txBody>
      </p:sp>
      <p:sp>
        <p:nvSpPr>
          <p:cNvPr id="13" name="Text 11"/>
          <p:cNvSpPr/>
          <p:nvPr/>
        </p:nvSpPr>
        <p:spPr>
          <a:xfrm>
            <a:off x="819130" y="279082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sections: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819130" y="29622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customer: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819130" y="313372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rubric: "Match verbatim; do not infer"</a:t>
            </a:r>
            <a:endParaRPr lang="en-US" sz="1013" dirty="0"/>
          </a:p>
        </p:txBody>
      </p:sp>
      <p:sp>
        <p:nvSpPr>
          <p:cNvPr id="16" name="Text 14"/>
          <p:cNvSpPr/>
          <p:nvPr/>
        </p:nvSpPr>
        <p:spPr>
          <a:xfrm>
            <a:off x="819130" y="33051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fields:</a:t>
            </a:r>
            <a:endParaRPr lang="en-US" sz="1013" dirty="0"/>
          </a:p>
        </p:txBody>
      </p:sp>
      <p:sp>
        <p:nvSpPr>
          <p:cNvPr id="17" name="Text 15"/>
          <p:cNvSpPr/>
          <p:nvPr/>
        </p:nvSpPr>
        <p:spPr>
          <a:xfrm>
            <a:off x="819130" y="347662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account_number: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819130" y="36480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field_type: extractive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819130" y="381952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criteria: "10-digit numeric string"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819130" y="39909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failure_condition: "wrong length or non-numeric"</a:t>
            </a:r>
            <a:endParaRPr lang="en-US" sz="1013" dirty="0"/>
          </a:p>
        </p:txBody>
      </p:sp>
      <p:sp>
        <p:nvSpPr>
          <p:cNvPr id="21" name="Text 19"/>
          <p:cNvSpPr/>
          <p:nvPr/>
        </p:nvSpPr>
        <p:spPr>
          <a:xfrm>
            <a:off x="819130" y="416242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example_pass: "4829301020"</a:t>
            </a:r>
            <a:endParaRPr lang="en-US" sz="1013" dirty="0"/>
          </a:p>
        </p:txBody>
      </p:sp>
      <p:sp>
        <p:nvSpPr>
          <p:cNvPr id="22" name="Text 20"/>
          <p:cNvSpPr/>
          <p:nvPr/>
        </p:nvSpPr>
        <p:spPr>
          <a:xfrm>
            <a:off x="819130" y="43338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example_fail: "482930102"</a:t>
            </a:r>
            <a:endParaRPr lang="en-US" sz="1013" dirty="0"/>
          </a:p>
        </p:txBody>
      </p:sp>
      <p:sp>
        <p:nvSpPr>
          <p:cNvPr id="23" name="Text 21"/>
          <p:cNvSpPr/>
          <p:nvPr/>
        </p:nvSpPr>
        <p:spPr>
          <a:xfrm>
            <a:off x="819130" y="4638675"/>
            <a:ext cx="52767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judge_settings: provider · model · cache · concurrency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6762581" y="1562100"/>
            <a:ext cx="4495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Rubric anatomy</a:t>
            </a:r>
            <a:endParaRPr lang="en-US" sz="1425" dirty="0"/>
          </a:p>
        </p:txBody>
      </p:sp>
      <p:sp>
        <p:nvSpPr>
          <p:cNvPr id="25" name="Shape 23"/>
          <p:cNvSpPr/>
          <p:nvPr/>
        </p:nvSpPr>
        <p:spPr>
          <a:xfrm>
            <a:off x="6762581" y="1924050"/>
            <a:ext cx="4495688" cy="76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43551" y="2105025"/>
            <a:ext cx="323842" cy="32385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73624" y="2195513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00740" y="2076450"/>
            <a:ext cx="3676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Versioning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7400740" y="2305050"/>
            <a:ext cx="36765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result stores rubric_version so history is not silently reinterpreted.</a:t>
            </a:r>
            <a:endParaRPr lang="en-US" sz="1088" dirty="0"/>
          </a:p>
        </p:txBody>
      </p:sp>
      <p:sp>
        <p:nvSpPr>
          <p:cNvPr id="30" name="Shape 28"/>
          <p:cNvSpPr/>
          <p:nvPr/>
        </p:nvSpPr>
        <p:spPr>
          <a:xfrm>
            <a:off x="6762581" y="2800350"/>
            <a:ext cx="4495688" cy="76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943551" y="2981325"/>
            <a:ext cx="323842" cy="32385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073624" y="3071813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00740" y="2952750"/>
            <a:ext cx="3676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Typed field definitions</a:t>
            </a:r>
            <a:endParaRPr lang="en-US" sz="1425" dirty="0"/>
          </a:p>
        </p:txBody>
      </p:sp>
      <p:sp>
        <p:nvSpPr>
          <p:cNvPr id="34" name="Text 32"/>
          <p:cNvSpPr/>
          <p:nvPr/>
        </p:nvSpPr>
        <p:spPr>
          <a:xfrm>
            <a:off x="7400740" y="3181350"/>
            <a:ext cx="36765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criteria, failure_condition, expected_format, examples, and missing_rule.</a:t>
            </a:r>
            <a:endParaRPr lang="en-US" sz="1088" dirty="0"/>
          </a:p>
        </p:txBody>
      </p:sp>
      <p:sp>
        <p:nvSpPr>
          <p:cNvPr id="35" name="Shape 33"/>
          <p:cNvSpPr/>
          <p:nvPr/>
        </p:nvSpPr>
        <p:spPr>
          <a:xfrm>
            <a:off x="6762581" y="3676650"/>
            <a:ext cx="4495688" cy="76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943551" y="3857625"/>
            <a:ext cx="323842" cy="323850"/>
          </a:xfrm>
          <a:prstGeom prst="round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073624" y="3948112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400740" y="3829050"/>
            <a:ext cx="3676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Global + per-field rules</a:t>
            </a:r>
            <a:endParaRPr lang="en-US" sz="1425" dirty="0"/>
          </a:p>
        </p:txBody>
      </p:sp>
      <p:sp>
        <p:nvSpPr>
          <p:cNvPr id="39" name="Text 37"/>
          <p:cNvSpPr/>
          <p:nvPr/>
        </p:nvSpPr>
        <p:spPr>
          <a:xfrm>
            <a:off x="7400740" y="4057650"/>
            <a:ext cx="36765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Guards apply everywhere; field rubrics define exact acceptance criteria.</a:t>
            </a:r>
            <a:endParaRPr lang="en-US" sz="1088" dirty="0"/>
          </a:p>
        </p:txBody>
      </p:sp>
      <p:sp>
        <p:nvSpPr>
          <p:cNvPr id="40" name="Shape 38"/>
          <p:cNvSpPr/>
          <p:nvPr/>
        </p:nvSpPr>
        <p:spPr>
          <a:xfrm>
            <a:off x="6762581" y="4552950"/>
            <a:ext cx="4495688" cy="76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43551" y="4733925"/>
            <a:ext cx="323842" cy="32385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073624" y="4824412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400740" y="4705350"/>
            <a:ext cx="3676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 plug-ins</a:t>
            </a:r>
            <a:endParaRPr lang="en-US" sz="1425" dirty="0"/>
          </a:p>
        </p:txBody>
      </p:sp>
      <p:sp>
        <p:nvSpPr>
          <p:cNvPr id="44" name="Text 42"/>
          <p:cNvSpPr/>
          <p:nvPr/>
        </p:nvSpPr>
        <p:spPr>
          <a:xfrm>
            <a:off x="7400740" y="4933950"/>
            <a:ext cx="36765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rubric_scales add coherence, toxicity, completeness, or domain scores.</a:t>
            </a:r>
            <a:endParaRPr lang="en-US" sz="1088" dirty="0"/>
          </a:p>
        </p:txBody>
      </p:sp>
      <p:sp>
        <p:nvSpPr>
          <p:cNvPr id="45" name="Shape 43"/>
          <p:cNvSpPr/>
          <p:nvPr/>
        </p:nvSpPr>
        <p:spPr>
          <a:xfrm>
            <a:off x="6762581" y="5429250"/>
            <a:ext cx="4495688" cy="762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6943551" y="5610225"/>
            <a:ext cx="323842" cy="32385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73624" y="5700713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7400740" y="5581650"/>
            <a:ext cx="3676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Provider routing</a:t>
            </a:r>
            <a:endParaRPr lang="en-US" sz="1425" dirty="0"/>
          </a:p>
        </p:txBody>
      </p:sp>
      <p:sp>
        <p:nvSpPr>
          <p:cNvPr id="49" name="Text 47"/>
          <p:cNvSpPr/>
          <p:nvPr/>
        </p:nvSpPr>
        <p:spPr>
          <a:xfrm>
            <a:off x="7400740" y="5810250"/>
            <a:ext cx="367655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4755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provider, tiering, prompt cache, and concurrency stay declarative.</a:t>
            </a:r>
            <a:endParaRPr lang="en-US" sz="1088" dirty="0"/>
          </a:p>
        </p:txBody>
      </p:sp>
      <p:sp>
        <p:nvSpPr>
          <p:cNvPr id="50" name="Text 48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the code sample is reduced to the minimum needed to prove the configuration pattern.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1034931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 PIPELINE AND MODE ROUTER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334267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mode router judges claims, sections, or both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885802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design avoids forcing every metric into the same unit of analysis: facts are claim-level; coherence and readability are section-level.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52436" y="1562100"/>
            <a:ext cx="438139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CLAIM-LEVEL PIPELINE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2436" y="1924050"/>
            <a:ext cx="4381390" cy="47625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04832" y="2009775"/>
            <a:ext cx="4076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Pre-validation</a:t>
            </a:r>
            <a:endParaRPr lang="en-US" sz="1275" dirty="0"/>
          </a:p>
        </p:txBody>
      </p:sp>
      <p:sp>
        <p:nvSpPr>
          <p:cNvPr id="10" name="Text 8"/>
          <p:cNvSpPr/>
          <p:nvPr/>
        </p:nvSpPr>
        <p:spPr>
          <a:xfrm>
            <a:off x="704832" y="2209800"/>
            <a:ext cx="4076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· length · encoding · required fields</a:t>
            </a:r>
            <a:endParaRPr lang="en-US" sz="1013" dirty="0"/>
          </a:p>
        </p:txBody>
      </p:sp>
      <p:sp>
        <p:nvSpPr>
          <p:cNvPr id="11" name="Shape 9"/>
          <p:cNvSpPr/>
          <p:nvPr/>
        </p:nvSpPr>
        <p:spPr>
          <a:xfrm>
            <a:off x="552436" y="2486025"/>
            <a:ext cx="4381390" cy="47625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4832" y="2571750"/>
            <a:ext cx="4076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 decomposition</a:t>
            </a:r>
            <a:endParaRPr lang="en-US" sz="1275" dirty="0"/>
          </a:p>
        </p:txBody>
      </p:sp>
      <p:sp>
        <p:nvSpPr>
          <p:cNvPr id="13" name="Text 11"/>
          <p:cNvSpPr/>
          <p:nvPr/>
        </p:nvSpPr>
        <p:spPr>
          <a:xfrm>
            <a:off x="704832" y="2771775"/>
            <a:ext cx="4076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 → per-field · template → JSON · classification per-label</a:t>
            </a:r>
            <a:endParaRPr lang="en-US" sz="1013" dirty="0"/>
          </a:p>
        </p:txBody>
      </p:sp>
      <p:sp>
        <p:nvSpPr>
          <p:cNvPr id="14" name="Shape 12"/>
          <p:cNvSpPr/>
          <p:nvPr/>
        </p:nvSpPr>
        <p:spPr>
          <a:xfrm>
            <a:off x="552436" y="3048000"/>
            <a:ext cx="4381390" cy="47625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4832" y="3133725"/>
            <a:ext cx="4076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 type classifier</a:t>
            </a:r>
            <a:endParaRPr lang="en-US" sz="1275" dirty="0"/>
          </a:p>
        </p:txBody>
      </p:sp>
      <p:sp>
        <p:nvSpPr>
          <p:cNvPr id="16" name="Text 14"/>
          <p:cNvSpPr/>
          <p:nvPr/>
        </p:nvSpPr>
        <p:spPr>
          <a:xfrm>
            <a:off x="704832" y="3333750"/>
            <a:ext cx="4076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extractive · inferential · free_form · classification</a:t>
            </a:r>
            <a:endParaRPr lang="en-US" sz="1013" dirty="0"/>
          </a:p>
        </p:txBody>
      </p:sp>
      <p:sp>
        <p:nvSpPr>
          <p:cNvPr id="17" name="Shape 15"/>
          <p:cNvSpPr/>
          <p:nvPr/>
        </p:nvSpPr>
        <p:spPr>
          <a:xfrm>
            <a:off x="552436" y="3609975"/>
            <a:ext cx="4381390" cy="47625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4832" y="3695700"/>
            <a:ext cx="4076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 step generator</a:t>
            </a:r>
            <a:endParaRPr lang="en-US" sz="1275" dirty="0"/>
          </a:p>
        </p:txBody>
      </p:sp>
      <p:sp>
        <p:nvSpPr>
          <p:cNvPr id="19" name="Text 17"/>
          <p:cNvSpPr/>
          <p:nvPr/>
        </p:nvSpPr>
        <p:spPr>
          <a:xfrm>
            <a:off x="704832" y="3895725"/>
            <a:ext cx="4076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criteria + rubric → cached numbered steps</a:t>
            </a:r>
            <a:endParaRPr lang="en-US" sz="1013" dirty="0"/>
          </a:p>
        </p:txBody>
      </p:sp>
      <p:sp>
        <p:nvSpPr>
          <p:cNvPr id="20" name="Shape 18"/>
          <p:cNvSpPr/>
          <p:nvPr/>
        </p:nvSpPr>
        <p:spPr>
          <a:xfrm>
            <a:off x="552436" y="4171950"/>
            <a:ext cx="4381390" cy="47625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4832" y="4257675"/>
            <a:ext cx="4076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pool</a:t>
            </a:r>
            <a:endParaRPr lang="en-US" sz="1275" dirty="0"/>
          </a:p>
        </p:txBody>
      </p:sp>
      <p:sp>
        <p:nvSpPr>
          <p:cNvPr id="22" name="Text 20"/>
          <p:cNvSpPr/>
          <p:nvPr/>
        </p:nvSpPr>
        <p:spPr>
          <a:xfrm>
            <a:off x="704832" y="4457700"/>
            <a:ext cx="4076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tiered primary + cross-check + specialized judges</a:t>
            </a:r>
            <a:endParaRPr lang="en-US" sz="1013" dirty="0"/>
          </a:p>
        </p:txBody>
      </p:sp>
      <p:sp>
        <p:nvSpPr>
          <p:cNvPr id="23" name="Shape 21"/>
          <p:cNvSpPr/>
          <p:nvPr/>
        </p:nvSpPr>
        <p:spPr>
          <a:xfrm>
            <a:off x="552436" y="4733925"/>
            <a:ext cx="4381390" cy="47625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04832" y="4819650"/>
            <a:ext cx="4076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Post-validation</a:t>
            </a:r>
            <a:endParaRPr lang="en-US" sz="1275" dirty="0"/>
          </a:p>
        </p:txBody>
      </p:sp>
      <p:sp>
        <p:nvSpPr>
          <p:cNvPr id="25" name="Text 23"/>
          <p:cNvSpPr/>
          <p:nvPr/>
        </p:nvSpPr>
        <p:spPr>
          <a:xfrm>
            <a:off x="704832" y="5019675"/>
            <a:ext cx="4076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schema · evidence substring check · score range</a:t>
            </a:r>
            <a:endParaRPr lang="en-US" sz="1013" dirty="0"/>
          </a:p>
        </p:txBody>
      </p:sp>
      <p:sp>
        <p:nvSpPr>
          <p:cNvPr id="26" name="Shape 24"/>
          <p:cNvSpPr/>
          <p:nvPr/>
        </p:nvSpPr>
        <p:spPr>
          <a:xfrm>
            <a:off x="552436" y="5295900"/>
            <a:ext cx="4381390" cy="476250"/>
          </a:xfrm>
          <a:prstGeom prst="roundRect">
            <a:avLst/>
          </a:prstGeom>
          <a:solidFill>
            <a:srgbClr val="065F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4832" y="5381625"/>
            <a:ext cx="407659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ValidationObject assembler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04832" y="5581650"/>
            <a:ext cx="407659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merge judge output and attach error_theme</a:t>
            </a:r>
            <a:endParaRPr lang="en-US" sz="1013" dirty="0"/>
          </a:p>
        </p:txBody>
      </p:sp>
      <p:sp>
        <p:nvSpPr>
          <p:cNvPr id="29" name="Text 27"/>
          <p:cNvSpPr/>
          <p:nvPr/>
        </p:nvSpPr>
        <p:spPr>
          <a:xfrm>
            <a:off x="5257669" y="1562100"/>
            <a:ext cx="60006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eval_mode: three paths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257669" y="1924050"/>
            <a:ext cx="60006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257669" y="1928813"/>
            <a:ext cx="60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1253506" y="1924050"/>
            <a:ext cx="0" cy="64770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257669" y="2566988"/>
            <a:ext cx="60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295768" y="1924050"/>
            <a:ext cx="0" cy="6477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505312" y="2076450"/>
            <a:ext cx="1352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claim_level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6953076" y="2047875"/>
            <a:ext cx="40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ClaimDecomposer → CascadingJudge per claim → ValidationObject[]; metrics: is_correct, precision, recall, F1.</a:t>
            </a:r>
            <a:endParaRPr lang="en-US" sz="1125" dirty="0"/>
          </a:p>
        </p:txBody>
      </p:sp>
      <p:sp>
        <p:nvSpPr>
          <p:cNvPr id="37" name="Shape 35"/>
          <p:cNvSpPr/>
          <p:nvPr/>
        </p:nvSpPr>
        <p:spPr>
          <a:xfrm>
            <a:off x="5257669" y="2686050"/>
            <a:ext cx="60006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257669" y="2690812"/>
            <a:ext cx="60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11253506" y="2686050"/>
            <a:ext cx="0" cy="64770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257669" y="3328988"/>
            <a:ext cx="60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295768" y="2686050"/>
            <a:ext cx="0" cy="6477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505312" y="2838450"/>
            <a:ext cx="1352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holistic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953076" y="2809875"/>
            <a:ext cx="40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HolisticJudge on full section; no decomposition; metrics: coherence, readability, fluency, verbosity.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5257669" y="3448050"/>
            <a:ext cx="6000600" cy="6477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257669" y="3452813"/>
            <a:ext cx="60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11253506" y="3448050"/>
            <a:ext cx="0" cy="64770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257669" y="4090987"/>
            <a:ext cx="6000600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295768" y="3448050"/>
            <a:ext cx="0" cy="647700"/>
          </a:xfrm>
          <a:prstGeom prst="line">
            <a:avLst/>
          </a:prstGeom>
          <a:solidFill>
            <a:srgbClr val="FFFFFF">
              <a:alpha val="0"/>
            </a:srgbClr>
          </a:solidFill>
          <a:ln w="762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505312" y="3600450"/>
            <a:ext cx="1352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953076" y="3571875"/>
            <a:ext cx="40004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 paths run concurrently, merging claim-level faithfulness with section-level quality.</a:t>
            </a:r>
            <a:endParaRPr lang="en-US" sz="1125" dirty="0"/>
          </a:p>
        </p:txBody>
      </p:sp>
      <p:sp>
        <p:nvSpPr>
          <p:cNvPr id="51" name="Shape 49"/>
          <p:cNvSpPr/>
          <p:nvPr/>
        </p:nvSpPr>
        <p:spPr>
          <a:xfrm>
            <a:off x="5257669" y="4610100"/>
            <a:ext cx="6000600" cy="142875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514837" y="4829175"/>
            <a:ext cx="548626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D4E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Cascading judge controls cost without losing rigor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5514837" y="5086350"/>
            <a:ext cx="5486263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38" dirty="0">
                <a:solidFill>
                  <a:srgbClr val="1F293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Tier 1 handles bounded fields; Tier 2 handles escalations and migrations. Expected steady-state spend is ~25–30% of frontier-only evaluation.</a:t>
            </a:r>
            <a:endParaRPr lang="en-US" sz="1238" dirty="0"/>
          </a:p>
        </p:txBody>
      </p:sp>
      <p:sp>
        <p:nvSpPr>
          <p:cNvPr id="54" name="Text 52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mode router and cascade now share one cohesive story rather than competing diagrams.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371092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PROMPT DESIGN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429514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29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Modular judge prompts make reasoning auditable and cacheable</a:t>
            </a:r>
            <a:endParaRPr lang="en-US" sz="2295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9334267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prompt structure separates stable instructions and rubrics from dynamic source context, cutting cost while preserving evaluation discipline.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52436" y="1581150"/>
            <a:ext cx="485762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52436" y="1943100"/>
            <a:ext cx="4857629" cy="952500"/>
          </a:xfrm>
          <a:prstGeom prst="roundRect">
            <a:avLst/>
          </a:prstGeom>
          <a:solidFill>
            <a:srgbClr val="1D4E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931" y="2114550"/>
            <a:ext cx="4476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Static — cached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2931" y="2333625"/>
            <a:ext cx="4476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System instructions · evaluation steps · rubrics · output format · taxonomy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552436" y="3009900"/>
            <a:ext cx="4857629" cy="952500"/>
          </a:xfrm>
          <a:prstGeom prst="roundRect">
            <a:avLst/>
          </a:prstGeom>
          <a:solidFill>
            <a:srgbClr val="065F4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2931" y="3181350"/>
            <a:ext cx="4476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Dynamic — per call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42931" y="3400425"/>
            <a:ext cx="4476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field_path · field_type · actual_value · source context · optional reference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552436" y="4076700"/>
            <a:ext cx="4857629" cy="952500"/>
          </a:xfrm>
          <a:prstGeom prst="roundRect">
            <a:avLst/>
          </a:prstGeom>
          <a:solidFill>
            <a:srgbClr val="42200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42931" y="4248150"/>
            <a:ext cx="4476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output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42931" y="4467225"/>
            <a:ext cx="447663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evidence[] · is_correct · is_missing · corrected_value · error_theme</a:t>
            </a:r>
            <a:endParaRPr lang="en-US" sz="1125" dirty="0"/>
          </a:p>
        </p:txBody>
      </p:sp>
      <p:sp>
        <p:nvSpPr>
          <p:cNvPr id="17" name="Shape 15"/>
          <p:cNvSpPr/>
          <p:nvPr/>
        </p:nvSpPr>
        <p:spPr>
          <a:xfrm>
            <a:off x="552436" y="5143500"/>
            <a:ext cx="4857629" cy="952500"/>
          </a:xfrm>
          <a:prstGeom prst="roundRect">
            <a:avLst/>
          </a:prstGeom>
          <a:solidFill>
            <a:srgbClr val="2E106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2931" y="5314950"/>
            <a:ext cx="44766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Post-validation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42931" y="5534025"/>
            <a:ext cx="447663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E2E8F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JSON schema · score range · evidence substring check · non-empty reasoning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829154" y="1581150"/>
            <a:ext cx="542911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Design decisions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829154" y="1943100"/>
            <a:ext cx="5429114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829154" y="1947862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253506" y="194310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29154" y="2757488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62491" y="194310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086323" y="2095500"/>
            <a:ext cx="49719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CoT before verdict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086323" y="2314575"/>
            <a:ext cx="49719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Evaluation steps are executed before a verdict; the judge cannot skip directly to an answer.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5829154" y="2876550"/>
            <a:ext cx="5429114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829154" y="2881313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1253506" y="287655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829154" y="3690937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862491" y="287655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086323" y="3028950"/>
            <a:ext cx="49719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post-validation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086323" y="3248025"/>
            <a:ext cx="49719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evidence quote must be a substring of the source; fabricated quotes are flagged.</a:t>
            </a:r>
            <a:endParaRPr lang="en-US" sz="1125" dirty="0"/>
          </a:p>
        </p:txBody>
      </p:sp>
      <p:sp>
        <p:nvSpPr>
          <p:cNvPr id="35" name="Shape 33"/>
          <p:cNvSpPr/>
          <p:nvPr/>
        </p:nvSpPr>
        <p:spPr>
          <a:xfrm>
            <a:off x="5829154" y="3810000"/>
            <a:ext cx="5429114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829154" y="3814763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11253506" y="381000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829154" y="4624387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862491" y="381000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86323" y="3962400"/>
            <a:ext cx="49719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&lt;corrected&gt; tag convention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6086323" y="4181475"/>
            <a:ext cx="49719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Incorrect values carry machine-parseable corrections without schema ambiguity.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5829154" y="4743450"/>
            <a:ext cx="5429114" cy="8191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5829154" y="4748213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1253506" y="474345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5829154" y="5557838"/>
            <a:ext cx="542911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5862491" y="4743450"/>
            <a:ext cx="0" cy="819150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086323" y="4895850"/>
            <a:ext cx="497192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Cross-family judge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086323" y="5114925"/>
            <a:ext cx="4971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High-stakes cases avoid self-preference by using a different provider family.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5829154" y="5753100"/>
            <a:ext cx="5429114" cy="6858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029174" y="5895975"/>
            <a:ext cx="502907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Cache implication: evaluation steps and rubric text are expensive but stable; dynamic context changes per field.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modular prompt details are shown as a stack with a separate decision rail.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1228798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1908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THEMES TO PROMPT IMPROVEMENT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5247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29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Closed-loop improvement turns failures into governed prompt changes</a:t>
            </a:r>
            <a:endParaRPr lang="en-US" sz="2295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9048524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system treats evaluation and prompt improvement as one workflow, but never lets an LLM deploy a prompt change without human review.</a:t>
            </a:r>
            <a:endParaRPr lang="en-US" sz="1275" dirty="0"/>
          </a:p>
        </p:txBody>
      </p:sp>
      <p:sp>
        <p:nvSpPr>
          <p:cNvPr id="7" name="Shape 5"/>
          <p:cNvSpPr/>
          <p:nvPr/>
        </p:nvSpPr>
        <p:spPr>
          <a:xfrm>
            <a:off x="552436" y="1581150"/>
            <a:ext cx="318127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52456" y="1762125"/>
            <a:ext cx="342891" cy="3429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2053" y="1862137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247744" y="1762125"/>
            <a:ext cx="22859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ValidationObjects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47744" y="2000250"/>
            <a:ext cx="22859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Failed claims carry field_path, reason, evidence, corrected value, and error_theme.</a:t>
            </a:r>
            <a:endParaRPr lang="en-US" sz="1125" dirty="0"/>
          </a:p>
        </p:txBody>
      </p:sp>
      <p:sp>
        <p:nvSpPr>
          <p:cNvPr id="12" name="Shape 10"/>
          <p:cNvSpPr/>
          <p:nvPr/>
        </p:nvSpPr>
        <p:spPr>
          <a:xfrm>
            <a:off x="3790855" y="2162175"/>
            <a:ext cx="457189" cy="28575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14717" y="1581150"/>
            <a:ext cx="318127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14737" y="1762125"/>
            <a:ext cx="342891" cy="3429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654334" y="1862137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10025" y="1762125"/>
            <a:ext cx="22859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Theme Aggregator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10025" y="2000250"/>
            <a:ext cx="22859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Counts recurring themes by field and ranks by frequency × impact weight.</a:t>
            </a:r>
            <a:endParaRPr lang="en-US" sz="1125" dirty="0"/>
          </a:p>
        </p:txBody>
      </p:sp>
      <p:sp>
        <p:nvSpPr>
          <p:cNvPr id="18" name="Shape 16"/>
          <p:cNvSpPr/>
          <p:nvPr/>
        </p:nvSpPr>
        <p:spPr>
          <a:xfrm>
            <a:off x="7553136" y="2162175"/>
            <a:ext cx="457189" cy="28575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76998" y="1581150"/>
            <a:ext cx="318127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77018" y="1762125"/>
            <a:ext cx="342891" cy="342900"/>
          </a:xfrm>
          <a:prstGeom prst="round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16615" y="1862137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772306" y="1762125"/>
            <a:ext cx="22859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Pattern Finder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72306" y="2000250"/>
            <a:ext cx="22859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Clusters related errors, names the root cause, and attaches supporting records.</a:t>
            </a:r>
            <a:endParaRPr lang="en-US" sz="1125" dirty="0"/>
          </a:p>
        </p:txBody>
      </p:sp>
      <p:sp>
        <p:nvSpPr>
          <p:cNvPr id="24" name="Shape 22"/>
          <p:cNvSpPr/>
          <p:nvPr/>
        </p:nvSpPr>
        <p:spPr>
          <a:xfrm>
            <a:off x="9648584" y="2933700"/>
            <a:ext cx="28574" cy="266700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76998" y="3257550"/>
            <a:ext cx="318127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8277018" y="3438525"/>
            <a:ext cx="342891" cy="342900"/>
          </a:xfrm>
          <a:prstGeom prst="round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16615" y="3538538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772306" y="3438525"/>
            <a:ext cx="22859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Versioned deploy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72306" y="3676650"/>
            <a:ext cx="22859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Accepted edits bump prompt and rubric versions on future ValidationObjects.</a:t>
            </a:r>
            <a:endParaRPr lang="en-US" sz="1125" dirty="0"/>
          </a:p>
        </p:txBody>
      </p:sp>
      <p:sp>
        <p:nvSpPr>
          <p:cNvPr id="30" name="Shape 28"/>
          <p:cNvSpPr/>
          <p:nvPr/>
        </p:nvSpPr>
        <p:spPr>
          <a:xfrm>
            <a:off x="7553136" y="3838575"/>
            <a:ext cx="457189" cy="28575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314717" y="3257550"/>
            <a:ext cx="318127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514737" y="3438525"/>
            <a:ext cx="342891" cy="342900"/>
          </a:xfrm>
          <a:prstGeom prst="round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54334" y="3538538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010025" y="3438525"/>
            <a:ext cx="22859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Human-in-the-Loop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10025" y="3676650"/>
            <a:ext cx="22859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Reviewer accepts, edits, or rejects with a mandatory rationale and audit trail.</a:t>
            </a:r>
            <a:endParaRPr lang="en-US" sz="1125" dirty="0"/>
          </a:p>
        </p:txBody>
      </p:sp>
      <p:sp>
        <p:nvSpPr>
          <p:cNvPr id="36" name="Shape 34"/>
          <p:cNvSpPr/>
          <p:nvPr/>
        </p:nvSpPr>
        <p:spPr>
          <a:xfrm>
            <a:off x="3790855" y="3838575"/>
            <a:ext cx="457189" cy="28575"/>
          </a:xfrm>
          <a:prstGeom prst="rect">
            <a:avLst/>
          </a:prstGeom>
          <a:solidFill>
            <a:srgbClr val="93C5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2436" y="3257550"/>
            <a:ext cx="318127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52456" y="3438525"/>
            <a:ext cx="342891" cy="34290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92053" y="3538538"/>
            <a:ext cx="636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247744" y="3438525"/>
            <a:ext cx="228594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Advisor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247744" y="3676650"/>
            <a:ext cx="2285943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Uses top-N patterns and prompt text to propose minimal, evidence-backed changes.</a:t>
            </a:r>
            <a:endParaRPr lang="en-US" sz="1125" dirty="0"/>
          </a:p>
        </p:txBody>
      </p:sp>
      <p:sp>
        <p:nvSpPr>
          <p:cNvPr id="42" name="Shape 40"/>
          <p:cNvSpPr/>
          <p:nvPr/>
        </p:nvSpPr>
        <p:spPr>
          <a:xfrm>
            <a:off x="552436" y="5143500"/>
            <a:ext cx="10705832" cy="68580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0555" y="5324475"/>
            <a:ext cx="102295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1E40A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Governance point: no open-source framework implements Pattern Finder, Prompt Advisor, and HITL review as a single closed loop.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the six-step loop is now a deliberate flow rather than a loose card grid.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41019764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19089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 AND OBSERVABILITY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5247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Dashboards roll up claims into migration and operations views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952476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same ValidationObjects power scorecards, error themes, data export, prompt review, and distributed trace diagnostics.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52436" y="1581150"/>
            <a:ext cx="42861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dashboard tabs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2436" y="1924050"/>
            <a:ext cx="4286143" cy="638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2436" y="1928813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33817" y="1924050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2436" y="2557463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5773" y="1924050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0555" y="2047875"/>
            <a:ext cx="38670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Metrics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90555" y="2266950"/>
            <a:ext cx="3867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overall, section, field heatmap, and dual-territory comparisons.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52436" y="2657475"/>
            <a:ext cx="4286143" cy="638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2436" y="2662237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833817" y="2657475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2436" y="3290887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5773" y="2657475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0555" y="2781300"/>
            <a:ext cx="38670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Error Themes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0555" y="3000375"/>
            <a:ext cx="3867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ranked patterns, field paths affected, and trend movement.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2436" y="3390900"/>
            <a:ext cx="4286143" cy="638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2436" y="3395663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33817" y="3390900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436" y="4024312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5773" y="3390900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555" y="3514725"/>
            <a:ext cx="38670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Model Leaderboard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90555" y="3733800"/>
            <a:ext cx="386705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precision, recall, F1, completeness, cost, latency, and judge eval.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52436" y="4124325"/>
            <a:ext cx="4286143" cy="638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2436" y="4129088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33817" y="4124325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2436" y="4757738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5773" y="4124325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0555" y="4248150"/>
            <a:ext cx="38670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Data Export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790555" y="4467225"/>
            <a:ext cx="3867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flattened ValidationObjects for audit and golden-set labeling.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2436" y="4857750"/>
            <a:ext cx="4286143" cy="6381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2436" y="4862513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833817" y="4857750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52436" y="5491163"/>
            <a:ext cx="4286143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5773" y="4857750"/>
            <a:ext cx="0" cy="6381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0555" y="4981575"/>
            <a:ext cx="3867053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Prompt Advisor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90555" y="5200650"/>
            <a:ext cx="38670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pending suggestions with Accept / Edit / Reject review state.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5219570" y="1581150"/>
            <a:ext cx="6038699" cy="264795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5410065" y="1714500"/>
            <a:ext cx="47623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25" b="1" dirty="0">
                <a:solidFill>
                  <a:srgbClr val="BFDBF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9-metric leaderboard sample</a:t>
            </a:r>
            <a:endParaRPr lang="en-US" sz="1425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/>
        </p:nvGraphicFramePr>
        <p:xfrm>
          <a:off x="5219570" y="2076450"/>
          <a:ext cx="6038698" cy="1733550"/>
        </p:xfrm>
        <a:graphic>
          <a:graphicData uri="http://schemas.openxmlformats.org/drawingml/2006/table">
            <a:tbl>
              <a:tblPr/>
              <a:tblGrid>
                <a:gridCol w="2041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26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93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3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474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BFDBF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Model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BFDBF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F1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BFDBF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Prec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BFDBF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Cost/1k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BFDBF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Lat p95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gpt-4o-2024-11-20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5EEA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0.91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0.93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$18.20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1,840ms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33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claude-sonnet-4-6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5EEA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0.89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0.91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$12.40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1,210ms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33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gpt-4o-mini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5EEA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0.83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0.85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$2.10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680ms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339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llama3.1-70b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5EEAD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0.78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0.80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$0.00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13" b="1" dirty="0">
                          <a:solidFill>
                            <a:srgbClr val="E2E8F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2,300ms</a:t>
                      </a:r>
                      <a:endParaRPr lang="en-US" sz="1013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" name="Shape 43"/>
          <p:cNvSpPr/>
          <p:nvPr/>
        </p:nvSpPr>
        <p:spPr>
          <a:xfrm>
            <a:off x="5219570" y="4438650"/>
            <a:ext cx="6038699" cy="1162050"/>
          </a:xfrm>
          <a:prstGeom prst="roundRect">
            <a:avLst/>
          </a:prstGeom>
          <a:solidFill>
            <a:srgbClr val="EAF2FF"/>
          </a:solidFill>
          <a:ln w="9525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4"/>
          <p:cNvSpPr/>
          <p:nvPr/>
        </p:nvSpPr>
        <p:spPr>
          <a:xfrm>
            <a:off x="5457689" y="4619625"/>
            <a:ext cx="556246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1D4ED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OpenTelemetry instrumentation</a:t>
            </a:r>
            <a:endParaRPr lang="en-US" sz="1575" dirty="0"/>
          </a:p>
        </p:txBody>
      </p:sp>
      <p:sp>
        <p:nvSpPr>
          <p:cNvPr id="48" name="Text 45"/>
          <p:cNvSpPr/>
          <p:nvPr/>
        </p:nvSpPr>
        <p:spPr>
          <a:xfrm>
            <a:off x="5457689" y="4867275"/>
            <a:ext cx="5562461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judge call is wrapped in a span: pre_validate · claim_decompose · eval_steps_generate · judge_call · post_validate · result_store.</a:t>
            </a:r>
            <a:endParaRPr lang="en-US" sz="1163" dirty="0"/>
          </a:p>
        </p:txBody>
      </p:sp>
      <p:sp>
        <p:nvSpPr>
          <p:cNvPr id="49" name="Text 46"/>
          <p:cNvSpPr/>
          <p:nvPr/>
        </p:nvSpPr>
        <p:spPr>
          <a:xfrm>
            <a:off x="5457689" y="5229225"/>
            <a:ext cx="556246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63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Use: identify latency bottlenecks per task type.</a:t>
            </a:r>
            <a:endParaRPr lang="en-US" sz="1163" dirty="0"/>
          </a:p>
        </p:txBody>
      </p:sp>
      <p:sp>
        <p:nvSpPr>
          <p:cNvPr id="50" name="Text 47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dashboard content is grouped into navigation, leaderboard, and trace panels.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2561701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71446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52436" y="323850"/>
            <a:ext cx="4000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RISKS, LIMITATIONS, AND PRODUCTION CHECKLIST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52436" y="571500"/>
            <a:ext cx="9524762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Deployment gates turn known risks into operating controls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552436" y="1066800"/>
            <a:ext cx="952476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design is strongest when known limitations are operationalized as explicit review, validation, and migration gates.</a:t>
            </a:r>
            <a:endParaRPr lang="en-US" sz="1275" dirty="0"/>
          </a:p>
        </p:txBody>
      </p:sp>
      <p:sp>
        <p:nvSpPr>
          <p:cNvPr id="7" name="Text 5"/>
          <p:cNvSpPr/>
          <p:nvPr/>
        </p:nvSpPr>
        <p:spPr>
          <a:xfrm>
            <a:off x="552436" y="1581150"/>
            <a:ext cx="5048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 risks and mitigation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2436" y="1924050"/>
            <a:ext cx="5048124" cy="7905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52436" y="1928813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595798" y="1924050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52436" y="2709863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5773" y="1924050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0555" y="2057400"/>
            <a:ext cx="4629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Free-form claim decomposition</a:t>
            </a:r>
            <a:endParaRPr lang="en-US" sz="1275" dirty="0"/>
          </a:p>
        </p:txBody>
      </p:sp>
      <p:sp>
        <p:nvSpPr>
          <p:cNvPr id="14" name="Text 12"/>
          <p:cNvSpPr/>
          <p:nvPr/>
        </p:nvSpPr>
        <p:spPr>
          <a:xfrm>
            <a:off x="790555" y="2257425"/>
            <a:ext cx="46290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Defer to Phase 2; MVP uses deterministic decomposition only.</a:t>
            </a:r>
            <a:endParaRPr lang="en-US" sz="1088" dirty="0"/>
          </a:p>
        </p:txBody>
      </p:sp>
      <p:sp>
        <p:nvSpPr>
          <p:cNvPr id="15" name="Shape 13"/>
          <p:cNvSpPr/>
          <p:nvPr/>
        </p:nvSpPr>
        <p:spPr>
          <a:xfrm>
            <a:off x="552436" y="2828925"/>
            <a:ext cx="5048124" cy="7905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52436" y="2833687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595798" y="2828925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52436" y="3614738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5773" y="2828925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0555" y="2962275"/>
            <a:ext cx="4629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Vague rubrics create vague verdicts</a:t>
            </a:r>
            <a:endParaRPr lang="en-US" sz="1275" dirty="0"/>
          </a:p>
        </p:txBody>
      </p:sp>
      <p:sp>
        <p:nvSpPr>
          <p:cNvPr id="21" name="Text 19"/>
          <p:cNvSpPr/>
          <p:nvPr/>
        </p:nvSpPr>
        <p:spPr>
          <a:xfrm>
            <a:off x="790555" y="3162300"/>
            <a:ext cx="4629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Require criteria, failure_condition, examples, and expected format per field.</a:t>
            </a:r>
            <a:endParaRPr lang="en-US" sz="1088" dirty="0"/>
          </a:p>
        </p:txBody>
      </p:sp>
      <p:sp>
        <p:nvSpPr>
          <p:cNvPr id="22" name="Shape 20"/>
          <p:cNvSpPr/>
          <p:nvPr/>
        </p:nvSpPr>
        <p:spPr>
          <a:xfrm>
            <a:off x="552436" y="3733800"/>
            <a:ext cx="5048124" cy="7905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52436" y="3738562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595798" y="3733800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52436" y="4519613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85773" y="3733800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555" y="3867150"/>
            <a:ext cx="4629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cost at volume</a:t>
            </a:r>
            <a:endParaRPr lang="en-US" sz="1275" dirty="0"/>
          </a:p>
        </p:txBody>
      </p:sp>
      <p:sp>
        <p:nvSpPr>
          <p:cNvPr id="28" name="Text 26"/>
          <p:cNvSpPr/>
          <p:nvPr/>
        </p:nvSpPr>
        <p:spPr>
          <a:xfrm>
            <a:off x="790555" y="4067175"/>
            <a:ext cx="4629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Cascade cheap Tier 1 with Tier 2 escalation for uncertain or high-stakes cases.</a:t>
            </a:r>
            <a:endParaRPr lang="en-US" sz="1088" dirty="0"/>
          </a:p>
        </p:txBody>
      </p:sp>
      <p:sp>
        <p:nvSpPr>
          <p:cNvPr id="29" name="Shape 27"/>
          <p:cNvSpPr/>
          <p:nvPr/>
        </p:nvSpPr>
        <p:spPr>
          <a:xfrm>
            <a:off x="552436" y="4638675"/>
            <a:ext cx="5048124" cy="7905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2436" y="4643438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595798" y="4638675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52436" y="5424487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585773" y="4638675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90555" y="4772025"/>
            <a:ext cx="4629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post-validation gaps</a:t>
            </a:r>
            <a:endParaRPr lang="en-US" sz="1275" dirty="0"/>
          </a:p>
        </p:txBody>
      </p:sp>
      <p:sp>
        <p:nvSpPr>
          <p:cNvPr id="35" name="Text 33"/>
          <p:cNvSpPr/>
          <p:nvPr/>
        </p:nvSpPr>
        <p:spPr>
          <a:xfrm>
            <a:off x="790555" y="4972050"/>
            <a:ext cx="4629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Substring-check verbatim evidence; route inconsistent judge cases to review.</a:t>
            </a:r>
            <a:endParaRPr lang="en-US" sz="1088" dirty="0"/>
          </a:p>
        </p:txBody>
      </p:sp>
      <p:sp>
        <p:nvSpPr>
          <p:cNvPr id="36" name="Shape 34"/>
          <p:cNvSpPr/>
          <p:nvPr/>
        </p:nvSpPr>
        <p:spPr>
          <a:xfrm>
            <a:off x="552436" y="5543550"/>
            <a:ext cx="5048124" cy="7905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552436" y="5548313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595798" y="5543550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52436" y="6329363"/>
            <a:ext cx="5048124" cy="0"/>
          </a:xfrm>
          <a:prstGeom prst="line">
            <a:avLst/>
          </a:prstGeom>
          <a:solidFill>
            <a:srgbClr val="FFFFFF">
              <a:alpha val="0"/>
            </a:srgbClr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585773" y="5543550"/>
            <a:ext cx="0" cy="790575"/>
          </a:xfrm>
          <a:prstGeom prst="line">
            <a:avLst/>
          </a:prstGeom>
          <a:solidFill>
            <a:srgbClr val="FFFFFF">
              <a:alpha val="0"/>
            </a:srgbClr>
          </a:solidFill>
          <a:ln w="666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90555" y="5676900"/>
            <a:ext cx="462903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75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Rubric + prompt version drift</a:t>
            </a:r>
            <a:endParaRPr lang="en-US" sz="1275" dirty="0"/>
          </a:p>
        </p:txBody>
      </p:sp>
      <p:sp>
        <p:nvSpPr>
          <p:cNvPr id="42" name="Text 40"/>
          <p:cNvSpPr/>
          <p:nvPr/>
        </p:nvSpPr>
        <p:spPr>
          <a:xfrm>
            <a:off x="790555" y="5876925"/>
            <a:ext cx="462903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8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Never change both in one evaluation run; filter by eval_version in dashboards.</a:t>
            </a:r>
            <a:endParaRPr lang="en-US" sz="1088" dirty="0"/>
          </a:p>
        </p:txBody>
      </p:sp>
      <p:sp>
        <p:nvSpPr>
          <p:cNvPr id="43" name="Text 41"/>
          <p:cNvSpPr/>
          <p:nvPr/>
        </p:nvSpPr>
        <p:spPr>
          <a:xfrm>
            <a:off x="6057749" y="1581150"/>
            <a:ext cx="520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Production deployment checklist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057749" y="1924050"/>
            <a:ext cx="520052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257769" y="2085975"/>
            <a:ext cx="48004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first run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257769" y="2305050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YAML configs versioned   error taxonomy defined</a:t>
            </a:r>
            <a:endParaRPr lang="en-US" sz="1125" dirty="0"/>
          </a:p>
        </p:txBody>
      </p:sp>
      <p:sp>
        <p:nvSpPr>
          <p:cNvPr id="47" name="Text 45"/>
          <p:cNvSpPr/>
          <p:nvPr/>
        </p:nvSpPr>
        <p:spPr>
          <a:xfrm>
            <a:off x="6257769" y="2486025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adapters tested   prompt cache warmup</a:t>
            </a:r>
            <a:endParaRPr lang="en-US" sz="1125" dirty="0"/>
          </a:p>
        </p:txBody>
      </p:sp>
      <p:sp>
        <p:nvSpPr>
          <p:cNvPr id="48" name="Text 46"/>
          <p:cNvSpPr/>
          <p:nvPr/>
        </p:nvSpPr>
        <p:spPr>
          <a:xfrm>
            <a:off x="6257769" y="2667000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judge model pinned   async queue configured</a:t>
            </a:r>
            <a:endParaRPr lang="en-US" sz="1125" dirty="0"/>
          </a:p>
        </p:txBody>
      </p:sp>
      <p:sp>
        <p:nvSpPr>
          <p:cNvPr id="49" name="Shape 47"/>
          <p:cNvSpPr/>
          <p:nvPr/>
        </p:nvSpPr>
        <p:spPr>
          <a:xfrm>
            <a:off x="6057749" y="3238500"/>
            <a:ext cx="5200520" cy="1295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257769" y="3400425"/>
            <a:ext cx="48004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production monitoring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257769" y="3619500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 rate configured   alert thresholds set</a:t>
            </a:r>
            <a:endParaRPr lang="en-US" sz="1125" dirty="0"/>
          </a:p>
        </p:txBody>
      </p:sp>
      <p:sp>
        <p:nvSpPr>
          <p:cNvPr id="52" name="Text 50"/>
          <p:cNvSpPr/>
          <p:nvPr/>
        </p:nvSpPr>
        <p:spPr>
          <a:xfrm>
            <a:off x="6257769" y="3800475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dual-ordering enabled   cross-family judge configured</a:t>
            </a:r>
            <a:endParaRPr lang="en-US" sz="1125" dirty="0"/>
          </a:p>
        </p:txBody>
      </p:sp>
      <p:sp>
        <p:nvSpPr>
          <p:cNvPr id="53" name="Text 51"/>
          <p:cNvSpPr/>
          <p:nvPr/>
        </p:nvSpPr>
        <p:spPr>
          <a:xfrm>
            <a:off x="6257769" y="3981450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post-validation enabled   HITL queue ready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6057749" y="4686300"/>
            <a:ext cx="5200520" cy="116205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B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257769" y="4848225"/>
            <a:ext cx="480048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each model migration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6257769" y="5067300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golden dataset frozen   baseline recorded</a:t>
            </a:r>
            <a:endParaRPr lang="en-US" sz="1125" dirty="0"/>
          </a:p>
        </p:txBody>
      </p:sp>
      <p:sp>
        <p:nvSpPr>
          <p:cNvPr id="57" name="Text 55"/>
          <p:cNvSpPr/>
          <p:nvPr/>
        </p:nvSpPr>
        <p:spPr>
          <a:xfrm>
            <a:off x="6257769" y="5248275"/>
            <a:ext cx="480048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per-field regression thresholds   bootstrap test configured</a:t>
            </a:r>
            <a:endParaRPr lang="en-US" sz="1125" dirty="0"/>
          </a:p>
        </p:txBody>
      </p:sp>
      <p:sp>
        <p:nvSpPr>
          <p:cNvPr id="58" name="Text 56"/>
          <p:cNvSpPr/>
          <p:nvPr/>
        </p:nvSpPr>
        <p:spPr>
          <a:xfrm>
            <a:off x="552436" y="6362700"/>
            <a:ext cx="85722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38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Professionalization applied: the overloaded checklist is now an executive risk-control slide.</a:t>
            </a:r>
            <a:endParaRPr lang="en-US" sz="938" dirty="0"/>
          </a:p>
        </p:txBody>
      </p:sp>
    </p:spTree>
    <p:extLst>
      <p:ext uri="{BB962C8B-B14F-4D97-AF65-F5344CB8AC3E}">
        <p14:creationId xmlns:p14="http://schemas.microsoft.com/office/powerpoint/2010/main" val="107606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1">
    <wetp:webextensionref xmlns:r="http://schemas.openxmlformats.org/officeDocument/2006/relationships" r:id="rId1"/>
  </wetp:taskpane>
  <wetp:taskpane dockstate="right" visibility="0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e972e36-146a-4bbb-b808-28a53d04c4e6}">
  <we:reference id="WA200010215" version="2.0.0.0" store="en-US" storeType="OMEX"/>
  <we:alternateReferences/>
  <we:properties>
    <we:property name="Microsoft.Office.CampaignId" value="&quot;none&quot;"/>
  </we:properties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F1AE5FC8-53F0-B74A-9D48-F0336E5A15A5}">
  <we:reference id="wa200010001" version="1.0.0.0" store="en-US" storeType="OMEX"/>
  <we:alternateReferences>
    <we:reference id="WA200010001" version="1.0.0.0" store="" storeType="OMEX"/>
  </we:alternateReferences>
  <we:properties>
    <we:property name="claude.fileId" value="&quot;55efec14-82bc-4e55-9279-13053f641f7a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Props1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1578</TotalTime>
  <Words>2634</Words>
  <Application>Microsoft Macintosh PowerPoint</Application>
  <PresentationFormat>Widescreen</PresentationFormat>
  <Paragraphs>390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Consolas</vt:lpstr>
      <vt:lpstr>Helvetica Neue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Nitish Harsoor</cp:lastModifiedBy>
  <cp:revision>5</cp:revision>
  <dcterms:created xsi:type="dcterms:W3CDTF">2018-06-07T21:39:02Z</dcterms:created>
  <dcterms:modified xsi:type="dcterms:W3CDTF">2026-05-24T10:03:01Z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